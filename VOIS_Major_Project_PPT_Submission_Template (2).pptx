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5" r:id="rId12"/>
    <p:sldId id="344"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111" d="100"/>
          <a:sy n="111" d="100"/>
        </p:scale>
        <p:origin x="474"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5735436" cy="861497"/>
          </a:xfrm>
        </p:spPr>
        <p:txBody>
          <a:bodyPr vert="horz" lIns="91440" tIns="45720" rIns="91440" bIns="45720" rtlCol="0" anchor="t">
            <a:normAutofit fontScale="85000" lnSpcReduction="10000"/>
          </a:bodyPr>
          <a:lstStyle/>
          <a:p>
            <a:pPr algn="r"/>
            <a:r>
              <a:rPr lang="en-US" b="0" dirty="0">
                <a:solidFill>
                  <a:schemeClr val="tx1"/>
                </a:solidFill>
              </a:rPr>
              <a:t>[Student Name: Manish Nishit Maity     </a:t>
            </a:r>
            <a:endParaRPr lang="en-IN" b="0" dirty="0">
              <a:solidFill>
                <a:schemeClr val="tx1"/>
              </a:solidFill>
            </a:endParaRPr>
          </a:p>
          <a:p>
            <a:pPr algn="r"/>
            <a:r>
              <a:rPr lang="en-US" b="0" dirty="0">
                <a:solidFill>
                  <a:schemeClr val="tx1"/>
                </a:solidFill>
              </a:rPr>
              <a:t>College Name- Thakur </a:t>
            </a:r>
            <a:r>
              <a:rPr lang="en-US" b="0" dirty="0" err="1">
                <a:solidFill>
                  <a:schemeClr val="tx1"/>
                </a:solidFill>
              </a:rPr>
              <a:t>Shyamnaryan</a:t>
            </a:r>
            <a:r>
              <a:rPr lang="en-US" b="0" dirty="0">
                <a:solidFill>
                  <a:schemeClr val="tx1"/>
                </a:solidFill>
              </a:rPr>
              <a:t> Degree College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750972"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623220" cy="646331"/>
          </a:xfrm>
          <a:prstGeom prst="rect">
            <a:avLst/>
          </a:prstGeom>
          <a:noFill/>
        </p:spPr>
        <p:txBody>
          <a:bodyPr wrap="square" rtlCol="0">
            <a:spAutoFit/>
          </a:bodyPr>
          <a:lstStyle/>
          <a:p>
            <a:r>
              <a:rPr lang="en-US" b="1" dirty="0"/>
              <a:t>AICTE STU ID : </a:t>
            </a:r>
            <a:r>
              <a:rPr lang="en-IN" dirty="0"/>
              <a:t>STU6a6382e7d2f3b1784906471</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781169" y="503288"/>
            <a:ext cx="6276109" cy="830997"/>
          </a:xfrm>
        </p:spPr>
        <p:txBody>
          <a:bodyPr>
            <a:normAutofit fontScale="90000"/>
          </a:bodyPr>
          <a:lstStyle/>
          <a:p>
            <a:r>
              <a:rPr lang="en-GB" dirty="0"/>
              <a:t>Project Description</a:t>
            </a:r>
            <a:br>
              <a:rPr lang="en-GB" dirty="0"/>
            </a:br>
            <a:br>
              <a:rPr lang="en-GB" dirty="0"/>
            </a:br>
            <a:r>
              <a:rPr lang="en-IN" sz="2200" b="0" dirty="0"/>
              <a:t>This project </a:t>
            </a:r>
            <a:r>
              <a:rPr lang="en-IN" sz="2200" b="0" dirty="0" err="1"/>
              <a:t>analyzes</a:t>
            </a:r>
            <a:r>
              <a:rPr lang="en-IN" sz="2200" b="0" dirty="0"/>
              <a:t> a comprehensive agricultural dataset to investigate how seasonal variations (Kharif, Rabi, and Zaid) impact farming performance, resource usage, and economic outcomes. The analysis involved cleaning missing data and utilizing Python (Pandas, Matplotlib, and Seaborn) to perform exploratory data analysis. Key objectives included comparing profitability across different seasons, examining variations in resource utilization like water and fertilizer, and identifying relationships between environmental conditions and crop yield. Ultimately, the project provides data-driven insights and visualizations to support evidence-based agricultural planning and better seasonal decision-making.</a:t>
            </a:r>
            <a:br>
              <a:rPr lang="en-GB" sz="220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b="1" dirty="0"/>
              <a:t>Farmers:</a:t>
            </a:r>
            <a:r>
              <a:rPr lang="en-IN" dirty="0"/>
              <a:t> To figure out which crops are the most profitable in each season and to avoid wasting resources like water and fertilizer.</a:t>
            </a:r>
          </a:p>
          <a:p>
            <a:pPr lvl="0"/>
            <a:r>
              <a:rPr lang="en-IN" b="1" dirty="0"/>
              <a:t>Government &amp; Agricultural Planners:</a:t>
            </a:r>
            <a:r>
              <a:rPr lang="en-IN" dirty="0"/>
              <a:t> To understand seasonal farming trends so they can make better decisions about where to distribute resources. </a:t>
            </a:r>
          </a:p>
          <a:p>
            <a:pPr lvl="0"/>
            <a:r>
              <a:rPr lang="en-IN" b="1" dirty="0"/>
              <a:t>Market Analysts:</a:t>
            </a:r>
            <a:r>
              <a:rPr lang="en-IN" dirty="0"/>
              <a:t> To track how costs, revenues, and profits naturally change during the Kharif, Rabi, and Zaid seasons.</a:t>
            </a:r>
          </a:p>
          <a:p>
            <a:pPr lvl="0"/>
            <a:r>
              <a:rPr lang="en-IN" b="1" dirty="0"/>
              <a:t>Agricultural Researchers:</a:t>
            </a:r>
            <a:r>
              <a:rPr lang="en-IN" dirty="0"/>
              <a:t> To study exactly how different weather conditions (like rainfall and temperature) affect crop yield and pest risks.</a:t>
            </a:r>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Programming Language:</a:t>
            </a:r>
            <a:r>
              <a:rPr lang="en-IN" dirty="0"/>
              <a:t> Python </a:t>
            </a:r>
          </a:p>
          <a:p>
            <a:pPr lvl="0"/>
            <a:r>
              <a:rPr lang="en-IN" b="1" dirty="0"/>
              <a:t>Development Environment:</a:t>
            </a:r>
            <a:r>
              <a:rPr lang="en-IN" dirty="0"/>
              <a:t> Jupyter Notebook (via VS Code)</a:t>
            </a:r>
          </a:p>
          <a:p>
            <a:pPr lvl="0"/>
            <a:r>
              <a:rPr lang="en-IN" b="1" dirty="0"/>
              <a:t>Data Manipulation &amp; Cleaning:</a:t>
            </a:r>
            <a:r>
              <a:rPr lang="en-IN" dirty="0"/>
              <a:t> Pandas</a:t>
            </a:r>
          </a:p>
          <a:p>
            <a:pPr lvl="0"/>
            <a:r>
              <a:rPr lang="en-IN" b="1" dirty="0"/>
              <a:t>Data Visualization:</a:t>
            </a:r>
            <a:r>
              <a:rPr lang="en-IN" dirty="0"/>
              <a:t> Matplotlib and Seaborn</a:t>
            </a:r>
          </a:p>
          <a:p>
            <a:pPr lvl="0"/>
            <a:r>
              <a:rPr lang="en-IN" b="1" dirty="0"/>
              <a:t>Version Control &amp; Hosting:</a:t>
            </a:r>
            <a:r>
              <a:rPr lang="en-IN" dirty="0"/>
              <a:t> Git and GitHub</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AE675C4-9DC5-6782-9FF2-C87C72343E2A}"/>
              </a:ext>
            </a:extLst>
          </p:cNvPr>
          <p:cNvPicPr>
            <a:picLocks noChangeAspect="1"/>
          </p:cNvPicPr>
          <p:nvPr/>
        </p:nvPicPr>
        <p:blipFill>
          <a:blip r:embed="rId3"/>
          <a:stretch>
            <a:fillRect/>
          </a:stretch>
        </p:blipFill>
        <p:spPr>
          <a:xfrm>
            <a:off x="386031" y="1275371"/>
            <a:ext cx="4671465" cy="1577477"/>
          </a:xfrm>
          <a:prstGeom prst="rect">
            <a:avLst/>
          </a:prstGeom>
        </p:spPr>
      </p:pic>
      <p:pic>
        <p:nvPicPr>
          <p:cNvPr id="10" name="Picture 9">
            <a:extLst>
              <a:ext uri="{FF2B5EF4-FFF2-40B4-BE49-F238E27FC236}">
                <a16:creationId xmlns:a16="http://schemas.microsoft.com/office/drawing/2014/main" id="{EA92304A-1469-C899-DA2F-997906A25B95}"/>
              </a:ext>
            </a:extLst>
          </p:cNvPr>
          <p:cNvPicPr>
            <a:picLocks noChangeAspect="1"/>
          </p:cNvPicPr>
          <p:nvPr/>
        </p:nvPicPr>
        <p:blipFill>
          <a:blip r:embed="rId4"/>
          <a:stretch>
            <a:fillRect/>
          </a:stretch>
        </p:blipFill>
        <p:spPr>
          <a:xfrm>
            <a:off x="5380195" y="660439"/>
            <a:ext cx="4618120" cy="2949196"/>
          </a:xfrm>
          <a:prstGeom prst="rect">
            <a:avLst/>
          </a:prstGeom>
        </p:spPr>
      </p:pic>
      <p:sp>
        <p:nvSpPr>
          <p:cNvPr id="12" name="TextBox 11">
            <a:extLst>
              <a:ext uri="{FF2B5EF4-FFF2-40B4-BE49-F238E27FC236}">
                <a16:creationId xmlns:a16="http://schemas.microsoft.com/office/drawing/2014/main" id="{EABA6911-89E6-94A3-D78B-16AA92498E20}"/>
              </a:ext>
            </a:extLst>
          </p:cNvPr>
          <p:cNvSpPr txBox="1"/>
          <p:nvPr/>
        </p:nvSpPr>
        <p:spPr>
          <a:xfrm>
            <a:off x="386031" y="3461847"/>
            <a:ext cx="6103188" cy="646331"/>
          </a:xfrm>
          <a:prstGeom prst="rect">
            <a:avLst/>
          </a:prstGeom>
          <a:noFill/>
        </p:spPr>
        <p:txBody>
          <a:bodyPr wrap="square">
            <a:spAutoFit/>
          </a:bodyPr>
          <a:lstStyle/>
          <a:p>
            <a:r>
              <a:rPr lang="en-IN" dirty="0"/>
              <a:t>This chart compares the average financial return across the three main farming seasons.</a:t>
            </a:r>
          </a:p>
        </p:txBody>
      </p:sp>
      <p:sp>
        <p:nvSpPr>
          <p:cNvPr id="14" name="TextBox 13">
            <a:extLst>
              <a:ext uri="{FF2B5EF4-FFF2-40B4-BE49-F238E27FC236}">
                <a16:creationId xmlns:a16="http://schemas.microsoft.com/office/drawing/2014/main" id="{E7CBDCE3-8CEF-896D-3D8F-E18097B6C15B}"/>
              </a:ext>
            </a:extLst>
          </p:cNvPr>
          <p:cNvSpPr txBox="1"/>
          <p:nvPr/>
        </p:nvSpPr>
        <p:spPr>
          <a:xfrm>
            <a:off x="386031" y="4190093"/>
            <a:ext cx="6103188" cy="2585323"/>
          </a:xfrm>
          <a:prstGeom prst="rect">
            <a:avLst/>
          </a:prstGeom>
          <a:noFill/>
        </p:spPr>
        <p:txBody>
          <a:bodyPr wrap="square">
            <a:spAutoFit/>
          </a:bodyPr>
          <a:lstStyle/>
          <a:p>
            <a:pPr marL="342900" lvl="0" indent="-342900">
              <a:buFont typeface="Arial" panose="020B0604020202020204" pitchFamily="34" charset="0"/>
              <a:buChar char="•"/>
            </a:pPr>
            <a:r>
              <a:rPr lang="en-IN" b="1" dirty="0"/>
              <a:t>Kharif is the most profitable:</a:t>
            </a:r>
            <a:r>
              <a:rPr lang="en-IN" dirty="0"/>
              <a:t> The Kharif season generates the highest average profit by a wide margin, nearing 175,000 .</a:t>
            </a:r>
          </a:p>
          <a:p>
            <a:pPr marL="342900" lvl="0" indent="-342900">
              <a:buFont typeface="Arial" panose="020B0604020202020204" pitchFamily="34" charset="0"/>
              <a:buChar char="•"/>
            </a:pPr>
            <a:r>
              <a:rPr lang="en-IN" b="1" dirty="0"/>
              <a:t>Rabi shows moderate returns:</a:t>
            </a:r>
            <a:r>
              <a:rPr lang="en-IN" dirty="0"/>
              <a:t> Farming during the Rabi season remains profitable, but yields about half the financial return of Kharif.</a:t>
            </a:r>
          </a:p>
          <a:p>
            <a:pPr marL="342900" lvl="0" indent="-342900">
              <a:buFont typeface="Arial" panose="020B0604020202020204" pitchFamily="34" charset="0"/>
              <a:buChar char="•"/>
            </a:pPr>
            <a:r>
              <a:rPr lang="en-IN" b="1" dirty="0"/>
              <a:t>Zaid operates at a loss:</a:t>
            </a:r>
            <a:r>
              <a:rPr lang="en-IN" dirty="0"/>
              <a:t> On average, agricultural activities during the Zaid season result in a financial loss (negative profit), dropping below zero.</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28135" y="3868420"/>
            <a:ext cx="7504982" cy="2726294"/>
          </a:xfrm>
        </p:spPr>
        <p:txBody>
          <a:bodyPr>
            <a:normAutofit fontScale="92500" lnSpcReduction="20000"/>
          </a:bodyPr>
          <a:lstStyle/>
          <a:p>
            <a:pPr lvl="0"/>
            <a:r>
              <a:rPr lang="en-IN" b="1" dirty="0"/>
              <a:t>Highest Usage in Zaid:</a:t>
            </a:r>
            <a:r>
              <a:rPr lang="en-IN" dirty="0"/>
              <a:t> The Zaid season consumes the highest volume of water on average, nearing 6,500 m³.</a:t>
            </a:r>
          </a:p>
          <a:p>
            <a:pPr lvl="0"/>
            <a:r>
              <a:rPr lang="en-IN" b="1" dirty="0"/>
              <a:t>Kharif and Rabi:</a:t>
            </a:r>
            <a:r>
              <a:rPr lang="en-IN" dirty="0"/>
              <a:t> Kharif follows closely behind with just over 6,000 m³, while the Rabi season is the most water-efficient, using the least amount of water overall.</a:t>
            </a:r>
          </a:p>
          <a:p>
            <a:pPr lvl="0"/>
            <a:r>
              <a:rPr lang="en-IN" b="1" dirty="0"/>
              <a:t>Resource Efficiency:</a:t>
            </a:r>
            <a:r>
              <a:rPr lang="en-IN" dirty="0"/>
              <a:t> Comparing this to our profitability analysis reveals a major insight: even though Zaid consumes the most water, it operates at an average financial loss. In contrast, the water invested during the Kharif season yields a highly profitable return.</a:t>
            </a:r>
          </a:p>
          <a:p>
            <a:pPr marL="0" indent="0">
              <a:buNone/>
            </a:pPr>
            <a:endParaRPr lang="en-IN" dirty="0"/>
          </a:p>
        </p:txBody>
      </p:sp>
      <p:pic>
        <p:nvPicPr>
          <p:cNvPr id="3" name="Picture 2">
            <a:extLst>
              <a:ext uri="{FF2B5EF4-FFF2-40B4-BE49-F238E27FC236}">
                <a16:creationId xmlns:a16="http://schemas.microsoft.com/office/drawing/2014/main" id="{E43A16D6-0507-D2B8-0756-F5AB9B93D13B}"/>
              </a:ext>
            </a:extLst>
          </p:cNvPr>
          <p:cNvPicPr>
            <a:picLocks noChangeAspect="1"/>
          </p:cNvPicPr>
          <p:nvPr/>
        </p:nvPicPr>
        <p:blipFill>
          <a:blip r:embed="rId3"/>
          <a:stretch>
            <a:fillRect/>
          </a:stretch>
        </p:blipFill>
        <p:spPr>
          <a:xfrm>
            <a:off x="888521" y="1408508"/>
            <a:ext cx="4304396" cy="1920406"/>
          </a:xfrm>
          <a:prstGeom prst="rect">
            <a:avLst/>
          </a:prstGeom>
        </p:spPr>
      </p:pic>
      <p:pic>
        <p:nvPicPr>
          <p:cNvPr id="9" name="Picture 8">
            <a:extLst>
              <a:ext uri="{FF2B5EF4-FFF2-40B4-BE49-F238E27FC236}">
                <a16:creationId xmlns:a16="http://schemas.microsoft.com/office/drawing/2014/main" id="{B2A41F05-510C-190A-3803-E360116C7139}"/>
              </a:ext>
            </a:extLst>
          </p:cNvPr>
          <p:cNvPicPr>
            <a:picLocks noChangeAspect="1"/>
          </p:cNvPicPr>
          <p:nvPr/>
        </p:nvPicPr>
        <p:blipFill>
          <a:blip r:embed="rId4"/>
          <a:stretch>
            <a:fillRect/>
          </a:stretch>
        </p:blipFill>
        <p:spPr>
          <a:xfrm>
            <a:off x="5317181" y="786087"/>
            <a:ext cx="4442845" cy="294919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3560636"/>
            <a:ext cx="8744088" cy="2711831"/>
          </a:xfrm>
        </p:spPr>
        <p:txBody>
          <a:bodyPr>
            <a:normAutofit fontScale="92500" lnSpcReduction="10000"/>
          </a:bodyPr>
          <a:lstStyle/>
          <a:p>
            <a:pPr lvl="0"/>
            <a:r>
              <a:rPr lang="en-US" b="1" dirty="0"/>
              <a:t>H</a:t>
            </a:r>
            <a:r>
              <a:rPr lang="en-IN" b="1" dirty="0" err="1"/>
              <a:t>igh</a:t>
            </a:r>
            <a:r>
              <a:rPr lang="en-IN" b="1" dirty="0"/>
              <a:t> Risk in Kharif:</a:t>
            </a:r>
            <a:r>
              <a:rPr lang="en-IN" dirty="0"/>
              <a:t> The Kharif season has the highest average risk for pests and diseases (around 54%). This makes sense, as Kharif coincides with the monsoon season, and high rainfall and humidity naturally create a breeding ground for pests.</a:t>
            </a:r>
          </a:p>
          <a:p>
            <a:pPr lvl="0"/>
            <a:r>
              <a:rPr lang="en-IN" b="1" dirty="0"/>
              <a:t>Lower Risk in Rabi and Zaid:</a:t>
            </a:r>
            <a:r>
              <a:rPr lang="en-IN" dirty="0"/>
              <a:t> Both Rabi and Zaid show significantly lower pest risks (hovering around 38% to 40%).</a:t>
            </a:r>
          </a:p>
          <a:p>
            <a:pPr lvl="0"/>
            <a:r>
              <a:rPr lang="en-IN" b="1" dirty="0"/>
              <a:t>Actionable Insight:</a:t>
            </a:r>
            <a:r>
              <a:rPr lang="en-IN" dirty="0"/>
              <a:t> This proves that while Kharif is the most profitable season (as seen on Slide 6), farmers must be heavily prepared with pest management strategies to protect their high-value crops during this time.</a:t>
            </a:r>
          </a:p>
          <a:p>
            <a:pPr marL="0" indent="0">
              <a:buNone/>
            </a:pPr>
            <a:endParaRPr lang="en-IN" dirty="0"/>
          </a:p>
        </p:txBody>
      </p:sp>
      <p:pic>
        <p:nvPicPr>
          <p:cNvPr id="3" name="Picture 2">
            <a:extLst>
              <a:ext uri="{FF2B5EF4-FFF2-40B4-BE49-F238E27FC236}">
                <a16:creationId xmlns:a16="http://schemas.microsoft.com/office/drawing/2014/main" id="{8563C4FE-D516-83DD-9BBF-FB068A148969}"/>
              </a:ext>
            </a:extLst>
          </p:cNvPr>
          <p:cNvPicPr>
            <a:picLocks noChangeAspect="1"/>
          </p:cNvPicPr>
          <p:nvPr/>
        </p:nvPicPr>
        <p:blipFill>
          <a:blip r:embed="rId3"/>
          <a:stretch>
            <a:fillRect/>
          </a:stretch>
        </p:blipFill>
        <p:spPr>
          <a:xfrm>
            <a:off x="675958" y="1201586"/>
            <a:ext cx="4663794" cy="1303133"/>
          </a:xfrm>
          <a:prstGeom prst="rect">
            <a:avLst/>
          </a:prstGeom>
        </p:spPr>
      </p:pic>
      <p:pic>
        <p:nvPicPr>
          <p:cNvPr id="9" name="Picture 8">
            <a:extLst>
              <a:ext uri="{FF2B5EF4-FFF2-40B4-BE49-F238E27FC236}">
                <a16:creationId xmlns:a16="http://schemas.microsoft.com/office/drawing/2014/main" id="{D0198D42-78C5-567E-EA73-731436018B89}"/>
              </a:ext>
            </a:extLst>
          </p:cNvPr>
          <p:cNvPicPr>
            <a:picLocks noChangeAspect="1"/>
          </p:cNvPicPr>
          <p:nvPr/>
        </p:nvPicPr>
        <p:blipFill>
          <a:blip r:embed="rId4"/>
          <a:stretch>
            <a:fillRect/>
          </a:stretch>
        </p:blipFill>
        <p:spPr>
          <a:xfrm>
            <a:off x="5386003" y="857342"/>
            <a:ext cx="4359018" cy="237118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00130" y="3168004"/>
            <a:ext cx="8535243" cy="3303916"/>
          </a:xfrm>
        </p:spPr>
        <p:txBody>
          <a:bodyPr>
            <a:normAutofit/>
          </a:bodyPr>
          <a:lstStyle/>
          <a:p>
            <a:pPr lvl="0"/>
            <a:r>
              <a:rPr lang="en-IN" sz="1900" b="1" dirty="0"/>
              <a:t>Highest Production in Kharif:</a:t>
            </a:r>
            <a:r>
              <a:rPr lang="en-IN" sz="1900" dirty="0"/>
              <a:t> The Kharif season produces the highest average crop yield, exceeding 5.5 tonnes per hectare. This aligns with our earlier findings that Kharif brings in the highest revenue and profit.</a:t>
            </a:r>
          </a:p>
          <a:p>
            <a:pPr lvl="0"/>
            <a:r>
              <a:rPr lang="en-IN" sz="1900" b="1" dirty="0"/>
              <a:t>Moderate to Low Yields:</a:t>
            </a:r>
            <a:r>
              <a:rPr lang="en-IN" sz="1900" dirty="0"/>
              <a:t> Rabi maintains a solid yield of about 5 tonnes per hectare, while the Zaid season produces the lowest yield overall.</a:t>
            </a:r>
          </a:p>
          <a:p>
            <a:pPr lvl="0"/>
            <a:r>
              <a:rPr lang="en-IN" sz="1900" b="1" dirty="0"/>
              <a:t>Resource to Yield Ratio:</a:t>
            </a:r>
            <a:r>
              <a:rPr lang="en-IN" sz="1900" dirty="0"/>
              <a:t> This highlights a major inefficiency during the Zaid season. As seen previously, Zaid consumes the most water but produces the lowest crop yield per hectare, ultimately explaining why it operates at a financial loss.</a:t>
            </a:r>
          </a:p>
          <a:p>
            <a:pPr marL="0" indent="0">
              <a:buNone/>
            </a:pPr>
            <a:endParaRPr lang="en-IN" dirty="0"/>
          </a:p>
        </p:txBody>
      </p:sp>
      <p:pic>
        <p:nvPicPr>
          <p:cNvPr id="3" name="Picture 2">
            <a:extLst>
              <a:ext uri="{FF2B5EF4-FFF2-40B4-BE49-F238E27FC236}">
                <a16:creationId xmlns:a16="http://schemas.microsoft.com/office/drawing/2014/main" id="{08C5F6A3-87D6-F6FB-87A5-45363E059517}"/>
              </a:ext>
            </a:extLst>
          </p:cNvPr>
          <p:cNvPicPr>
            <a:picLocks noChangeAspect="1"/>
          </p:cNvPicPr>
          <p:nvPr/>
        </p:nvPicPr>
        <p:blipFill>
          <a:blip r:embed="rId3"/>
          <a:stretch>
            <a:fillRect/>
          </a:stretch>
        </p:blipFill>
        <p:spPr>
          <a:xfrm>
            <a:off x="755406" y="1201586"/>
            <a:ext cx="4472202" cy="1425063"/>
          </a:xfrm>
          <a:prstGeom prst="rect">
            <a:avLst/>
          </a:prstGeom>
        </p:spPr>
      </p:pic>
      <p:pic>
        <p:nvPicPr>
          <p:cNvPr id="9" name="Picture 8">
            <a:extLst>
              <a:ext uri="{FF2B5EF4-FFF2-40B4-BE49-F238E27FC236}">
                <a16:creationId xmlns:a16="http://schemas.microsoft.com/office/drawing/2014/main" id="{1D845E05-1E7E-DC83-383E-C2A2524D805A}"/>
              </a:ext>
            </a:extLst>
          </p:cNvPr>
          <p:cNvPicPr>
            <a:picLocks noChangeAspect="1"/>
          </p:cNvPicPr>
          <p:nvPr/>
        </p:nvPicPr>
        <p:blipFill>
          <a:blip r:embed="rId4"/>
          <a:stretch>
            <a:fillRect/>
          </a:stretch>
        </p:blipFill>
        <p:spPr>
          <a:xfrm>
            <a:off x="5307057" y="863688"/>
            <a:ext cx="4343776" cy="215552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384469" y="3855181"/>
            <a:ext cx="8888927" cy="2809779"/>
          </a:xfrm>
        </p:spPr>
        <p:txBody>
          <a:bodyPr>
            <a:normAutofit fontScale="92500" lnSpcReduction="20000"/>
          </a:bodyPr>
          <a:lstStyle/>
          <a:p>
            <a:pPr lvl="0"/>
            <a:r>
              <a:rPr lang="en-IN" b="1" dirty="0"/>
              <a:t>Kharif Reaches Higher Revenues:</a:t>
            </a:r>
            <a:r>
              <a:rPr lang="en-IN" dirty="0"/>
              <a:t> For any given level of investment (Total Cost), farms operating in the Kharif season consistently reach the highest revenue peaks (shown by the upper cluster of points).</a:t>
            </a:r>
          </a:p>
          <a:p>
            <a:pPr lvl="0"/>
            <a:r>
              <a:rPr lang="en-IN" b="1" dirty="0"/>
              <a:t>Zaid's Economic Struggle:</a:t>
            </a:r>
            <a:r>
              <a:rPr lang="en-IN" dirty="0"/>
              <a:t> The data points for the Zaid season remain concentrated near the bottom of the revenue axis. Even when total costs increase, revenue fails to scale up, explaining the overall financial losses during this period.</a:t>
            </a:r>
          </a:p>
          <a:p>
            <a:pPr lvl="0"/>
            <a:r>
              <a:rPr lang="en-IN" b="1" dirty="0"/>
              <a:t>Final Conclusion:</a:t>
            </a:r>
            <a:r>
              <a:rPr lang="en-IN" dirty="0"/>
              <a:t> Investment risk is lowest and potential reward is highest during the Kharif season, making it the most economically viable period for agricultural activities.</a:t>
            </a:r>
          </a:p>
          <a:p>
            <a:pPr marL="0" indent="0">
              <a:buNone/>
            </a:pPr>
            <a:endParaRPr lang="en-IN" dirty="0"/>
          </a:p>
        </p:txBody>
      </p:sp>
      <p:pic>
        <p:nvPicPr>
          <p:cNvPr id="3" name="Picture 2">
            <a:extLst>
              <a:ext uri="{FF2B5EF4-FFF2-40B4-BE49-F238E27FC236}">
                <a16:creationId xmlns:a16="http://schemas.microsoft.com/office/drawing/2014/main" id="{B4A6C6BF-BBCB-8A7E-FCCF-158A399E1910}"/>
              </a:ext>
            </a:extLst>
          </p:cNvPr>
          <p:cNvPicPr>
            <a:picLocks noChangeAspect="1"/>
          </p:cNvPicPr>
          <p:nvPr/>
        </p:nvPicPr>
        <p:blipFill>
          <a:blip r:embed="rId3"/>
          <a:stretch>
            <a:fillRect/>
          </a:stretch>
        </p:blipFill>
        <p:spPr>
          <a:xfrm>
            <a:off x="675957" y="1156520"/>
            <a:ext cx="4579290" cy="2104265"/>
          </a:xfrm>
          <a:prstGeom prst="rect">
            <a:avLst/>
          </a:prstGeom>
        </p:spPr>
      </p:pic>
      <p:pic>
        <p:nvPicPr>
          <p:cNvPr id="9" name="Picture 8">
            <a:extLst>
              <a:ext uri="{FF2B5EF4-FFF2-40B4-BE49-F238E27FC236}">
                <a16:creationId xmlns:a16="http://schemas.microsoft.com/office/drawing/2014/main" id="{50318A12-2BC0-5C51-1EA8-6B7FF63808A4}"/>
              </a:ext>
            </a:extLst>
          </p:cNvPr>
          <p:cNvPicPr>
            <a:picLocks noChangeAspect="1"/>
          </p:cNvPicPr>
          <p:nvPr/>
        </p:nvPicPr>
        <p:blipFill>
          <a:blip r:embed="rId4"/>
          <a:stretch>
            <a:fillRect/>
          </a:stretch>
        </p:blipFill>
        <p:spPr>
          <a:xfrm>
            <a:off x="5255247" y="558667"/>
            <a:ext cx="4613372" cy="276556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738A4496-CE84-D416-50C5-5F8945F91707}"/>
              </a:ext>
            </a:extLst>
          </p:cNvPr>
          <p:cNvSpPr txBox="1"/>
          <p:nvPr/>
        </p:nvSpPr>
        <p:spPr>
          <a:xfrm>
            <a:off x="675957" y="2268140"/>
            <a:ext cx="8289511" cy="2862322"/>
          </a:xfrm>
          <a:prstGeom prst="rect">
            <a:avLst/>
          </a:prstGeom>
          <a:noFill/>
        </p:spPr>
        <p:txBody>
          <a:bodyPr wrap="square">
            <a:spAutoFit/>
          </a:bodyPr>
          <a:lstStyle/>
          <a:p>
            <a:pPr marL="342900" lvl="0" indent="-342900">
              <a:buFont typeface="Arial" panose="020B0604020202020204" pitchFamily="34" charset="0"/>
              <a:buChar char="•"/>
            </a:pPr>
            <a:r>
              <a:rPr lang="en-IN" b="1" dirty="0"/>
              <a:t>Predictive </a:t>
            </a:r>
            <a:r>
              <a:rPr lang="en-IN" b="1" dirty="0" err="1"/>
              <a:t>Modeling</a:t>
            </a:r>
            <a:r>
              <a:rPr lang="en-IN" b="1" dirty="0"/>
              <a:t>:</a:t>
            </a:r>
            <a:r>
              <a:rPr lang="en-IN" dirty="0"/>
              <a:t> Instead of just looking at historical data, we could apply Machine Learning algorithms to predict crop yields and potential profits before a season even begins.</a:t>
            </a:r>
          </a:p>
          <a:p>
            <a:pPr marL="342900" lvl="0" indent="-342900">
              <a:buFont typeface="Arial" panose="020B0604020202020204" pitchFamily="34" charset="0"/>
              <a:buChar char="•"/>
            </a:pPr>
            <a:r>
              <a:rPr lang="en-IN" b="1" dirty="0"/>
              <a:t>Interactive Dashboards:</a:t>
            </a:r>
            <a:r>
              <a:rPr lang="en-IN" dirty="0"/>
              <a:t> The analysis could be taken a step further by building an interactive Power BI dashboard. This would allow farmers or planners to filter by their specific district and instantly see which crop is best to plant.</a:t>
            </a:r>
          </a:p>
          <a:p>
            <a:pPr marL="342900" lvl="0" indent="-342900">
              <a:buFont typeface="Arial" panose="020B0604020202020204" pitchFamily="34" charset="0"/>
              <a:buChar char="•"/>
            </a:pPr>
            <a:r>
              <a:rPr lang="en-IN" b="1" dirty="0"/>
              <a:t>Real-Time Weather Integration:</a:t>
            </a:r>
            <a:r>
              <a:rPr lang="en-IN" dirty="0"/>
              <a:t> We could merge this static dataset with a live weather API to study how sudden climate changes or unexpected droughts impact pest risks and water usage in real-time.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456380" y="2579007"/>
            <a:ext cx="7232875" cy="369332"/>
          </a:xfrm>
          <a:prstGeom prst="rect">
            <a:avLst/>
          </a:prstGeom>
          <a:noFill/>
        </p:spPr>
        <p:txBody>
          <a:bodyPr wrap="square">
            <a:spAutoFit/>
          </a:bodyPr>
          <a:lstStyle/>
          <a:p>
            <a:r>
              <a:rPr lang="en-US" dirty="0"/>
              <a:t>https://github.com/manish130-ctr/Seasonal-Agriculture-Analysis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244453D-5BA4-A1CA-A6FA-10D781714EEC}"/>
              </a:ext>
            </a:extLst>
          </p:cNvPr>
          <p:cNvPicPr>
            <a:picLocks noChangeAspect="1"/>
          </p:cNvPicPr>
          <p:nvPr/>
        </p:nvPicPr>
        <p:blipFill>
          <a:blip r:embed="rId3"/>
          <a:stretch>
            <a:fillRect/>
          </a:stretch>
        </p:blipFill>
        <p:spPr>
          <a:xfrm>
            <a:off x="862163" y="1450546"/>
            <a:ext cx="7978975" cy="503686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1448</TotalTime>
  <Words>1006</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analyzes a comprehensive agricultural dataset to investigate how seasonal variations (Kharif, Rabi, and Zaid) impact farming performance, resource usage, and economic outcomes. The analysis involved cleaning missing data and utilizing Python (Pandas, Matplotlib, and Seaborn) to perform exploratory data analysis. Key objectives included comparing profitability across different seasons, examining variations in resource utilization like water and fertilizer, and identifying relationships between environmental conditions and crop yield. Ultimately, the project provides data-driven insights and visualizations to support evidence-based agricultural planning and better seasonal decision-making.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manish maity</cp:lastModifiedBy>
  <cp:revision>99</cp:revision>
  <dcterms:created xsi:type="dcterms:W3CDTF">2021-07-11T13:13:15Z</dcterms:created>
  <dcterms:modified xsi:type="dcterms:W3CDTF">2026-09-09T06:08:05Z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